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72B1D-9169-4BBD-84E5-80737775EEC7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93B68-B3DB-4E93-B3B1-75DEA5434A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7481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72B1D-9169-4BBD-84E5-80737775EEC7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93B68-B3DB-4E93-B3B1-75DEA5434A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336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72B1D-9169-4BBD-84E5-80737775EEC7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93B68-B3DB-4E93-B3B1-75DEA5434A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9807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72B1D-9169-4BBD-84E5-80737775EEC7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93B68-B3DB-4E93-B3B1-75DEA5434A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0341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72B1D-9169-4BBD-84E5-80737775EEC7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93B68-B3DB-4E93-B3B1-75DEA5434A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0422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72B1D-9169-4BBD-84E5-80737775EEC7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93B68-B3DB-4E93-B3B1-75DEA5434A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5093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72B1D-9169-4BBD-84E5-80737775EEC7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93B68-B3DB-4E93-B3B1-75DEA5434A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3696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72B1D-9169-4BBD-84E5-80737775EEC7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93B68-B3DB-4E93-B3B1-75DEA5434A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6286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72B1D-9169-4BBD-84E5-80737775EEC7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93B68-B3DB-4E93-B3B1-75DEA5434A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0062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72B1D-9169-4BBD-84E5-80737775EEC7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93B68-B3DB-4E93-B3B1-75DEA5434A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479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72B1D-9169-4BBD-84E5-80737775EEC7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93B68-B3DB-4E93-B3B1-75DEA5434A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6728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F72B1D-9169-4BBD-84E5-80737775EEC7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893B68-B3DB-4E93-B3B1-75DEA5434A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821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194559"/>
            <a:ext cx="9144000" cy="1315403"/>
          </a:xfrm>
        </p:spPr>
        <p:txBody>
          <a:bodyPr/>
          <a:lstStyle/>
          <a:p>
            <a:pPr algn="ctr">
              <a:defRPr sz="4000" b="1">
                <a:solidFill>
                  <a:srgbClr val="1B365D"/>
                </a:solidFill>
                <a:latin typeface="Times New Roman"/>
              </a:defRPr>
            </a:pPr>
            <a:r>
              <a:t>VIGINT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1F6EA5"/>
                </a:solidFill>
                <a:latin typeface="Times New Roman"/>
              </a:defRPr>
            </a:pPr>
            <a:r>
              <a:t>Autonomous Multi-Sensor IoT Mesh &amp; Edge Embedded System for Real-Time Campus Hazard Detection &amp; Physical Countermeasures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400" b="1">
                <a:solidFill>
                  <a:srgbClr val="1B365D"/>
                </a:solidFill>
                <a:latin typeface="Times New Roman"/>
              </a:defRPr>
            </a:pPr>
            <a:r>
              <a:t>Prepared By:</a:t>
            </a:r>
          </a:p>
          <a:p>
            <a:pPr>
              <a:defRPr sz="1200">
                <a:solidFill>
                  <a:srgbClr val="23272D"/>
                </a:solidFill>
                <a:latin typeface="Times New Roman"/>
              </a:defRPr>
            </a:pPr>
            <a:r>
              <a:t>• Hitansh Parikh (Lead AI &amp; Embedded Systems Architect - 22BCP142)</a:t>
            </a:r>
          </a:p>
          <a:p>
            <a:pPr>
              <a:defRPr sz="1200">
                <a:solidFill>
                  <a:srgbClr val="23272D"/>
                </a:solidFill>
                <a:latin typeface="Times New Roman"/>
              </a:defRPr>
            </a:pPr>
            <a:r>
              <a:t>• Embedded &amp; IoT Systems Engineer (22BEC088)</a:t>
            </a:r>
          </a:p>
          <a:p>
            <a:pPr>
              <a:defRPr sz="1200">
                <a:solidFill>
                  <a:srgbClr val="23272D"/>
                </a:solidFill>
                <a:latin typeface="Times New Roman"/>
              </a:defRPr>
            </a:pPr>
            <a:r>
              <a:t>• Edge Vision &amp; AI Developer (22BCP165)</a:t>
            </a:r>
          </a:p>
          <a:p>
            <a:pPr>
              <a:defRPr sz="1200">
                <a:solidFill>
                  <a:srgbClr val="23272D"/>
                </a:solidFill>
                <a:latin typeface="Times New Roman"/>
              </a:defRPr>
            </a:pPr>
            <a:r>
              <a:t>• Hardware Prototyping &amp; PCB Design Lead (22BEE054)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9206" y="265756"/>
            <a:ext cx="2866588" cy="101574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9279" y="28802"/>
            <a:ext cx="2072721" cy="149197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755"/>
            <a:ext cx="3434978" cy="6399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99269" y="5024846"/>
            <a:ext cx="3640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300" b="1">
                <a:solidFill>
                  <a:srgbClr val="1B365D"/>
                </a:solidFill>
                <a:latin typeface="Times New Roman"/>
              </a:defRPr>
            </a:pPr>
            <a:r>
              <a:t>Guided By:</a:t>
            </a:r>
            <a:endParaRPr lang="en-IN" dirty="0"/>
          </a:p>
          <a:p>
            <a:pPr>
              <a:defRPr sz="1100">
                <a:solidFill>
                  <a:srgbClr val="23272D"/>
                </a:solidFill>
                <a:latin typeface="Times New Roman"/>
              </a:defRPr>
            </a:pPr>
            <a:r>
              <a:t>Dr. S. K. Sharma</a:t>
            </a:r>
            <a:br/>
            <a:r>
              <a:t>Professor &amp; Head of Department</a:t>
            </a:r>
            <a:br/>
            <a:r>
              <a:t>Computer Science &amp; Engineering</a:t>
            </a:r>
          </a:p>
        </p:txBody>
      </p:sp>
    </p:spTree>
    <p:extLst>
      <p:ext uri="{BB962C8B-B14F-4D97-AF65-F5344CB8AC3E}">
        <p14:creationId xmlns:p14="http://schemas.microsoft.com/office/powerpoint/2010/main" val="2258641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>
                <a:solidFill>
                  <a:srgbClr val="1B365D"/>
                </a:solidFill>
                <a:latin typeface="Times New Roman"/>
              </a:defRPr>
            </a:pPr>
            <a:r>
              <a:t>Outline of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</a:pPr>
            <a:r>
              <a:rPr sz="1200" b="1">
                <a:solidFill>
                  <a:srgbClr val="23272D"/>
                </a:solidFill>
                <a:latin typeface="Times New Roman"/>
              </a:rPr>
              <a:t>01. Motivation &amp; Background: </a:t>
            </a:r>
            <a:r>
              <a:rPr sz="1200">
                <a:solidFill>
                  <a:srgbClr val="23272D"/>
                </a:solidFill>
                <a:latin typeface="Times New Roman"/>
              </a:rPr>
              <a:t>Real-world safety hazards, human monitoring fatigue, and the need for autonomous edge sensing.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</a:pPr>
            <a:r>
              <a:rPr sz="1200" b="1">
                <a:solidFill>
                  <a:srgbClr val="23272D"/>
                </a:solidFill>
                <a:latin typeface="Times New Roman"/>
              </a:rPr>
              <a:t>02. Problem Statement &amp; Current Gaps: </a:t>
            </a:r>
            <a:r>
              <a:rPr sz="1200">
                <a:solidFill>
                  <a:srgbClr val="23272D"/>
                </a:solidFill>
                <a:latin typeface="Times New Roman"/>
              </a:rPr>
              <a:t>Vulnerabilities of passive CCTV, delayed alarms, high commercial costs, and cloud dependency.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</a:pPr>
            <a:r>
              <a:rPr sz="1200" b="1">
                <a:solidFill>
                  <a:srgbClr val="23272D"/>
                </a:solidFill>
                <a:latin typeface="Times New Roman"/>
              </a:rPr>
              <a:t>03. Proposed Solution &amp; Architecture: </a:t>
            </a:r>
            <a:r>
              <a:rPr sz="1200">
                <a:solidFill>
                  <a:srgbClr val="23272D"/>
                </a:solidFill>
                <a:latin typeface="Times New Roman"/>
              </a:rPr>
              <a:t>VIGINT Tri-Modal IoT mesh, Dempster-Shafer sensor fusion, and FreeRTOS dual-core edge processing.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</a:pPr>
            <a:r>
              <a:rPr sz="1200" b="1">
                <a:solidFill>
                  <a:srgbClr val="23272D"/>
                </a:solidFill>
                <a:latin typeface="Times New Roman"/>
              </a:rPr>
              <a:t>04. Comparison &amp; Core Uniqueness: </a:t>
            </a:r>
            <a:r>
              <a:rPr sz="1200">
                <a:solidFill>
                  <a:srgbClr val="23272D"/>
                </a:solidFill>
                <a:latin typeface="Times New Roman"/>
              </a:rPr>
              <a:t>Quantitative benchmarking against standalone CCTV, conventional smoke alarms, and commercial BMS.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</a:pPr>
            <a:r>
              <a:rPr sz="1200" b="1">
                <a:solidFill>
                  <a:srgbClr val="23272D"/>
                </a:solidFill>
                <a:latin typeface="Times New Roman"/>
              </a:rPr>
              <a:t>05. Real-World Applications: </a:t>
            </a:r>
            <a:r>
              <a:rPr sz="1200">
                <a:solidFill>
                  <a:srgbClr val="23272D"/>
                </a:solidFill>
                <a:latin typeface="Times New Roman"/>
              </a:rPr>
              <a:t>Target deployment verticals: Academic campuses, research laboratories, public transit, and server rooms.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</a:pPr>
            <a:r>
              <a:rPr sz="1200" b="1">
                <a:solidFill>
                  <a:srgbClr val="23272D"/>
                </a:solidFill>
                <a:latin typeface="Times New Roman"/>
              </a:rPr>
              <a:t>06. Budget Justification (₹30,000 Ask): </a:t>
            </a:r>
            <a:r>
              <a:rPr sz="1200">
                <a:solidFill>
                  <a:srgbClr val="23272D"/>
                </a:solidFill>
                <a:latin typeface="Times New Roman"/>
              </a:rPr>
              <a:t>100% tangible IoT hardware breakdown with 50% advance structure (₹15,000 upfront for M1 &amp; M2).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</a:pPr>
            <a:r>
              <a:rPr sz="1200" b="1">
                <a:solidFill>
                  <a:srgbClr val="23272D"/>
                </a:solidFill>
                <a:latin typeface="Times New Roman"/>
              </a:rPr>
              <a:t>07. 1-Year Milestones &amp; Execution Timeline: </a:t>
            </a:r>
            <a:r>
              <a:rPr sz="1200">
                <a:solidFill>
                  <a:srgbClr val="23272D"/>
                </a:solidFill>
                <a:latin typeface="Times New Roman"/>
              </a:rPr>
              <a:t>6 structured 2-month milestones spanning 1,000 engineering hours from breadboard to campus testbed.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</a:pPr>
            <a:r>
              <a:rPr sz="1200" b="1">
                <a:solidFill>
                  <a:srgbClr val="23272D"/>
                </a:solidFill>
                <a:latin typeface="Times New Roman"/>
              </a:rPr>
              <a:t>08. Conclusion &amp; Demonstration Plan: </a:t>
            </a:r>
            <a:r>
              <a:rPr sz="1200">
                <a:solidFill>
                  <a:srgbClr val="23272D"/>
                </a:solidFill>
                <a:latin typeface="Times New Roman"/>
              </a:rPr>
              <a:t>Summary of feasibility, deliverables, and Q&amp;A discussion.</a:t>
            </a:r>
          </a:p>
        </p:txBody>
      </p:sp>
    </p:spTree>
    <p:extLst>
      <p:ext uri="{BB962C8B-B14F-4D97-AF65-F5344CB8AC3E}">
        <p14:creationId xmlns:p14="http://schemas.microsoft.com/office/powerpoint/2010/main" val="2564611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>
                <a:solidFill>
                  <a:srgbClr val="1B365D"/>
                </a:solidFill>
                <a:latin typeface="Times New Roman"/>
              </a:defRPr>
            </a:pPr>
            <a:r>
              <a:t>Motivation: Why Conventional Safety Systems Fail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3272D"/>
                </a:solidFill>
                <a:latin typeface="Times New Roman"/>
              </a:rPr>
              <a:t>1. Operator Cognitive Fatigue in CCTV: </a:t>
            </a:r>
            <a:r>
              <a:rPr sz="1300">
                <a:solidFill>
                  <a:srgbClr val="23272D"/>
                </a:solidFill>
                <a:latin typeface="Times New Roman"/>
              </a:rPr>
              <a:t>Studies show that security operators miss up to 67% of visual anomalies after just 20 minutes of continuous screen viewing, creating severe blind spots in large campuses.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3272D"/>
                </a:solidFill>
                <a:latin typeface="Times New Roman"/>
              </a:rPr>
              <a:t>2. Blindness to Invisible Non-Optical Hazards: </a:t>
            </a:r>
            <a:r>
              <a:rPr sz="1300">
                <a:solidFill>
                  <a:srgbClr val="23272D"/>
                </a:solidFill>
                <a:latin typeface="Times New Roman"/>
              </a:rPr>
              <a:t>Cameras cannot detect odorless, colorless toxic Carbon Monoxide (CO), pressurized LPG gas leaks, or pre-combustion thermal build-ups before open flames erupt.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3272D"/>
                </a:solidFill>
                <a:latin typeface="Times New Roman"/>
              </a:rPr>
              <a:t>3. High False-Alarm Rates &amp; Ceiling Delay: </a:t>
            </a:r>
            <a:r>
              <a:rPr sz="1300">
                <a:solidFill>
                  <a:srgbClr val="23272D"/>
                </a:solidFill>
                <a:latin typeface="Times New Roman"/>
              </a:rPr>
              <a:t>Conventional smoke alarms have a 120–300 second lag in high-ceiling halls and suffer from 18%–25% false alarms from dust/steam, breeding dangerous complacency.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3272D"/>
                </a:solidFill>
                <a:latin typeface="Times New Roman"/>
              </a:rPr>
              <a:t>4. Lack of Sub-Second Physical Mitigation: </a:t>
            </a:r>
            <a:r>
              <a:rPr sz="1300">
                <a:solidFill>
                  <a:srgbClr val="23272D"/>
                </a:solidFill>
                <a:latin typeface="Times New Roman"/>
              </a:rPr>
              <a:t>Traditional alarms only buzz; they rely on slow human intervention to shut off gas pipelines, sound directional evacuation sirens, or unlock emergency fire exit turnstiles.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23272D"/>
                </a:solidFill>
                <a:latin typeface="Times New Roman"/>
              </a:rPr>
              <a:t>5. The VIGINT Vision: </a:t>
            </a:r>
            <a:r>
              <a:rPr sz="1300">
                <a:solidFill>
                  <a:srgbClr val="23272D"/>
                </a:solidFill>
                <a:latin typeface="Times New Roman"/>
              </a:rPr>
              <a:t>An ultra-low-cost (&lt; ₹1,800/node) edge-first IoT mesh that achieves zero false alarms (&lt;1.8%) and executes physical safety countermeasures in under 250 milliseconds.</a:t>
            </a:r>
          </a:p>
        </p:txBody>
      </p:sp>
    </p:spTree>
    <p:extLst>
      <p:ext uri="{BB962C8B-B14F-4D97-AF65-F5344CB8AC3E}">
        <p14:creationId xmlns:p14="http://schemas.microsoft.com/office/powerpoint/2010/main" val="2301105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>
                <a:solidFill>
                  <a:srgbClr val="1B365D"/>
                </a:solidFill>
                <a:latin typeface="Times New Roman"/>
              </a:defRPr>
            </a:pPr>
            <a:r>
              <a:t>Introduction (1): Problem Statement &amp; Market Gaps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3272D"/>
                </a:solidFill>
                <a:latin typeface="Times New Roman"/>
              </a:rPr>
              <a:t>• Disconnected, Siloed Safety Infrastructure: </a:t>
            </a:r>
            <a:r>
              <a:rPr sz="1300">
                <a:solidFill>
                  <a:srgbClr val="23272D"/>
                </a:solidFill>
                <a:latin typeface="Times New Roman"/>
              </a:rPr>
              <a:t>CCTV surveillance, fire alarms, and building access controls operate as isolated systems with zero cross-sensor communication or automated consensus validation.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3272D"/>
                </a:solidFill>
                <a:latin typeface="Times New Roman"/>
              </a:rPr>
              <a:t>• Critical Incident Response Latency: </a:t>
            </a:r>
            <a:r>
              <a:rPr sz="1300">
                <a:solidFill>
                  <a:srgbClr val="23272D"/>
                </a:solidFill>
                <a:latin typeface="Times New Roman"/>
              </a:rPr>
              <a:t>Manual verification and security guard dispatch take 5 to 15 minutes, allowing localized electrical smoldering and flammable gas leaks to escalate into major disasters.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3272D"/>
                </a:solidFill>
                <a:latin typeface="Times New Roman"/>
              </a:rPr>
              <a:t>• Exorbitant Commercial Deployment Costs: </a:t>
            </a:r>
            <a:r>
              <a:rPr sz="1300">
                <a:solidFill>
                  <a:srgbClr val="23272D"/>
                </a:solidFill>
                <a:latin typeface="Times New Roman"/>
              </a:rPr>
              <a:t>Enterprise Building Management Systems (Honeywell, Siemens, Milestone) cost upwards of ₹1,50,000 per zone with proprietary, closed-source hardware lock-in.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3272D"/>
                </a:solidFill>
                <a:latin typeface="Times New Roman"/>
              </a:rPr>
              <a:t>• Cloud-Dependency &amp; Network Fragility: </a:t>
            </a:r>
            <a:r>
              <a:rPr sz="1300">
                <a:solidFill>
                  <a:srgbClr val="23272D"/>
                </a:solidFill>
                <a:latin typeface="Times New Roman"/>
              </a:rPr>
              <a:t>Cloud-reliant AI video analytics fail completely when local Wi-Fi or wide-area network (WAN) cables are damaged during an emergency, leaving facilities unprotected.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23272D"/>
                </a:solidFill>
                <a:latin typeface="Times New Roman"/>
              </a:rPr>
              <a:t>• The Need: </a:t>
            </a:r>
            <a:r>
              <a:rPr sz="1300">
                <a:solidFill>
                  <a:srgbClr val="23272D"/>
                </a:solidFill>
                <a:latin typeface="Times New Roman"/>
              </a:rPr>
              <a:t>A self-contained, air-gapped embedded edge platform that operates autonomously on local power and mesh communication with deterministic sub-second reliability.</a:t>
            </a:r>
          </a:p>
        </p:txBody>
      </p:sp>
    </p:spTree>
    <p:extLst>
      <p:ext uri="{BB962C8B-B14F-4D97-AF65-F5344CB8AC3E}">
        <p14:creationId xmlns:p14="http://schemas.microsoft.com/office/powerpoint/2010/main" val="2991029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>
                <a:solidFill>
                  <a:srgbClr val="1B365D"/>
                </a:solidFill>
                <a:latin typeface="Times New Roman"/>
              </a:defRPr>
            </a:pPr>
            <a:r>
              <a:t>Introduction (2): Proposed VIGINT Multi-Sensor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</a:pPr>
            <a:r>
              <a:rPr sz="1250" b="1" dirty="0">
                <a:solidFill>
                  <a:srgbClr val="23272D"/>
                </a:solidFill>
                <a:latin typeface="Times New Roman"/>
              </a:rPr>
              <a:t>1. Tri-Modal Sensory Transduction Mesh: </a:t>
            </a:r>
            <a:r>
              <a:rPr sz="1250" dirty="0">
                <a:solidFill>
                  <a:srgbClr val="23272D"/>
                </a:solidFill>
                <a:latin typeface="Times New Roman"/>
              </a:rPr>
              <a:t>Distributed ESP32-S3 microcontroller nodes polling MQ-2 (gas/smoke), MQ-7 (toxic CO), DHT22 (temp/humidity), LM393 (acoustic decibel), and ESP32-CAM (edge vision) at 2 Hz with 12-bit ADC precision.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</a:pPr>
            <a:r>
              <a:rPr sz="1250" b="1" dirty="0">
                <a:solidFill>
                  <a:srgbClr val="23272D"/>
                </a:solidFill>
                <a:latin typeface="Times New Roman"/>
              </a:rPr>
              <a:t>2. Dempster-Shafer Evidential Fusion Engine: </a:t>
            </a:r>
            <a:r>
              <a:rPr sz="1250" dirty="0">
                <a:solidFill>
                  <a:srgbClr val="23272D"/>
                </a:solidFill>
                <a:latin typeface="Times New Roman"/>
              </a:rPr>
              <a:t>Combines optical bounding-box confidence with real-time physical ppm gas and thermal rate-of-rise telemetry. An emergency is confirmed only when optical and physical sensors agree (Bel &gt;= 0.85), reducing false alarms to &lt; 1.8%.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</a:pPr>
            <a:r>
              <a:rPr sz="1250" b="1" dirty="0">
                <a:solidFill>
                  <a:srgbClr val="23272D"/>
                </a:solidFill>
                <a:latin typeface="Times New Roman"/>
              </a:rPr>
              <a:t>3. Sub-250ms Autonomous Physical Countermeasures: </a:t>
            </a:r>
            <a:r>
              <a:rPr sz="1250" dirty="0">
                <a:solidFill>
                  <a:srgbClr val="23272D"/>
                </a:solidFill>
                <a:latin typeface="Times New Roman"/>
              </a:rPr>
              <a:t>Optocoupled 4-channel relay boards execute localized mitigation in &lt; 130 </a:t>
            </a:r>
            <a:r>
              <a:rPr sz="1250" dirty="0" err="1">
                <a:solidFill>
                  <a:srgbClr val="23272D"/>
                </a:solidFill>
                <a:latin typeface="Times New Roman"/>
              </a:rPr>
              <a:t>ms</a:t>
            </a:r>
            <a:r>
              <a:rPr sz="1250">
                <a:solidFill>
                  <a:srgbClr val="23272D"/>
                </a:solidFill>
                <a:latin typeface="Times New Roman"/>
              </a:rPr>
              <a:t>: triggering 110 dB directional strobe sirens, closing 12V solenoid gas shutoff valves, and unlocking electromagnetic fire doors.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</a:pPr>
            <a:r>
              <a:rPr sz="1250" b="1" dirty="0">
                <a:solidFill>
                  <a:srgbClr val="23272D"/>
                </a:solidFill>
                <a:latin typeface="Times New Roman"/>
              </a:rPr>
              <a:t>4. 100% Offline Air-Gapped Mesh Resilience: </a:t>
            </a:r>
            <a:r>
              <a:rPr sz="1250" dirty="0">
                <a:solidFill>
                  <a:srgbClr val="23272D"/>
                </a:solidFill>
                <a:latin typeface="Times New Roman"/>
              </a:rPr>
              <a:t>Runs autonomously over local 2.4 GHz MQTT with NRF24L01+ RF mesh failover and dual 18650 Li-ion battery backup—zero cloud dependency and 100% operational during network outages.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</a:pPr>
            <a:r>
              <a:rPr sz="1250" b="1" dirty="0">
                <a:solidFill>
                  <a:srgbClr val="23272D"/>
                </a:solidFill>
                <a:latin typeface="Times New Roman"/>
              </a:rPr>
              <a:t>5. </a:t>
            </a:r>
            <a:r>
              <a:rPr sz="1250" b="1" dirty="0" err="1">
                <a:solidFill>
                  <a:srgbClr val="23272D"/>
                </a:solidFill>
                <a:latin typeface="Times New Roman"/>
              </a:rPr>
              <a:t>FreeRTOS</a:t>
            </a:r>
            <a:r>
              <a:rPr sz="1250" b="1" dirty="0">
                <a:solidFill>
                  <a:srgbClr val="23272D"/>
                </a:solidFill>
                <a:latin typeface="Times New Roman"/>
              </a:rPr>
              <a:t> Dual-Core Architecture: </a:t>
            </a:r>
            <a:r>
              <a:rPr sz="1250" dirty="0">
                <a:solidFill>
                  <a:srgbClr val="23272D"/>
                </a:solidFill>
                <a:latin typeface="Times New Roman"/>
              </a:rPr>
              <a:t>Core 0 handles mesh communication and MQTT telemetry buffering; Core 1 performs deterministic analog reading and FIR noise filtering to guarantee zero frame drops.</a:t>
            </a:r>
          </a:p>
        </p:txBody>
      </p:sp>
    </p:spTree>
    <p:extLst>
      <p:ext uri="{BB962C8B-B14F-4D97-AF65-F5344CB8AC3E}">
        <p14:creationId xmlns:p14="http://schemas.microsoft.com/office/powerpoint/2010/main" val="1442667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>
                <a:solidFill>
                  <a:srgbClr val="1B365D"/>
                </a:solidFill>
                <a:latin typeface="Times New Roman"/>
              </a:defRPr>
            </a:pPr>
            <a:r>
              <a:t>Comparison of Uniqueness: Why VIGINT is Superior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27017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Feature / Metric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Standalone CCTV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Legacy Smoke Alarms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Commercial BMS (PLC)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VIGINT Platform (Our Solution)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Sensing Modalities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Optical video only (blind to gas/heat)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Single-point gas or optical smoke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Multi-point wired industrial sensors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B365D"/>
                          </a:solidFill>
                          <a:latin typeface="Times New Roman"/>
                        </a:defRPr>
                      </a:pPr>
                      <a:r>
                        <a:t>Tri-Modal: Optical + Multi-Gas/Thermal + Acoustic</a:t>
                      </a:r>
                    </a:p>
                  </a:txBody>
                  <a:tcPr>
                    <a:solidFill>
                      <a:srgbClr val="E6F5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False Alarm Rate (P_fa)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High (18% - 25% on glare/shadows)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Moderate (12% - 16% on dust/steam)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Low to Moderate (5% - 8%)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B365D"/>
                          </a:solidFill>
                          <a:latin typeface="Times New Roman"/>
                        </a:defRPr>
                      </a:pPr>
                      <a:r>
                        <a:t>&lt; 1.8% (Dempster-Shafer Evidential Fusion)</a:t>
                      </a:r>
                    </a:p>
                  </a:txBody>
                  <a:tcPr>
                    <a:solidFill>
                      <a:srgbClr val="E6F5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Hazard Detection Latency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&gt; 60 - 180 sec (human dependent)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120 - 300 sec (high-ceiling lag)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15 - 45 sec (wired bus polling)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B365D"/>
                          </a:solidFill>
                          <a:latin typeface="Times New Roman"/>
                        </a:defRPr>
                      </a:pPr>
                      <a:r>
                        <a:t>&lt; 250 ms (Local Edge Interrupt Loop)</a:t>
                      </a:r>
                    </a:p>
                  </a:txBody>
                  <a:tcPr>
                    <a:solidFill>
                      <a:srgbClr val="E6F5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Automated Physical 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None (Manual operator dispatch)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Local buzzer only (no isolation)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Complex PLC relay (high latency)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B365D"/>
                          </a:solidFill>
                          <a:latin typeface="Times New Roman"/>
                        </a:defRPr>
                      </a:pPr>
                      <a:r>
                        <a:t>Instant Tri-Actuator: 110dB Siren + Gas Valve + Door</a:t>
                      </a:r>
                    </a:p>
                  </a:txBody>
                  <a:tcPr>
                    <a:solidFill>
                      <a:srgbClr val="E6F5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Air-Gapped Local Autonomy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Fails if LAN/NVR disconnects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Isolated unit (no spatial mesh)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Requires central master controller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B365D"/>
                          </a:solidFill>
                          <a:latin typeface="Times New Roman"/>
                        </a:defRPr>
                      </a:pPr>
                      <a:r>
                        <a:t>100% Autonomous Local MQTT Mesh &amp; Battery</a:t>
                      </a:r>
                    </a:p>
                  </a:txBody>
                  <a:tcPr>
                    <a:solidFill>
                      <a:srgbClr val="E6F5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7018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Hardware Cost Per Zone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₹8,000 - ₹15,000 (Camera only)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₹3,500 - ₹6,000 (Basic alarm)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₹85,000 - ₹1,50,000+ (Industrial PLC)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B365D"/>
                          </a:solidFill>
                          <a:latin typeface="Times New Roman"/>
                        </a:defRPr>
                      </a:pPr>
                      <a:r>
                        <a:t>&lt; ₹1,800 (Modular Custom Edge IoT Node)</a:t>
                      </a:r>
                    </a:p>
                  </a:txBody>
                  <a:tcPr>
                    <a:solidFill>
                      <a:srgbClr val="E6F5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536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>
                <a:solidFill>
                  <a:srgbClr val="1B365D"/>
                </a:solidFill>
                <a:latin typeface="Times New Roman"/>
              </a:defRPr>
            </a:pPr>
            <a:r>
              <a:t>Application: Real-World Deployments &amp; High-Impact Verticals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700"/>
              </a:spcAft>
            </a:pPr>
            <a:r>
              <a:rPr sz="1250" b="1">
                <a:solidFill>
                  <a:srgbClr val="23272D"/>
                </a:solidFill>
                <a:latin typeface="Times New Roman"/>
              </a:rPr>
              <a:t>1. Academic Campuses &amp; Student Hostels: </a:t>
            </a:r>
            <a:r>
              <a:rPr sz="1250">
                <a:solidFill>
                  <a:srgbClr val="23272D"/>
                </a:solidFill>
                <a:latin typeface="Times New Roman"/>
              </a:rPr>
              <a:t>Protects student living areas, mess halls, and chemistry laboratories against toxic gas leaks, unattended kitchen flare-ups, and nighttime corridor stampedes with automatic siren and door releases.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700"/>
              </a:spcAft>
            </a:pPr>
            <a:r>
              <a:rPr sz="1250" b="1">
                <a:solidFill>
                  <a:srgbClr val="23272D"/>
                </a:solidFill>
                <a:latin typeface="Times New Roman"/>
              </a:rPr>
              <a:t>2. Industrial Workshops &amp; Manufacturing Labs: </a:t>
            </a:r>
            <a:r>
              <a:rPr sz="1250">
                <a:solidFill>
                  <a:srgbClr val="23272D"/>
                </a:solidFill>
                <a:latin typeface="Times New Roman"/>
              </a:rPr>
              <a:t>Monitors hazardous flammable hydrocarbons (LPG) and toxic Carbon Monoxide (CO) near CNC machines and welding stations, triggering instant brass solenoid valve shutoffs to stop gas flow at the source.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700"/>
              </a:spcAft>
            </a:pPr>
            <a:r>
              <a:rPr sz="1250" b="1">
                <a:solidFill>
                  <a:srgbClr val="23272D"/>
                </a:solidFill>
                <a:latin typeface="Times New Roman"/>
              </a:rPr>
              <a:t>3. High-Transit Public Infrastructure (Auditoriums, Terminals): </a:t>
            </a:r>
            <a:r>
              <a:rPr sz="1250">
                <a:solidFill>
                  <a:srgbClr val="23272D"/>
                </a:solidFill>
                <a:latin typeface="Times New Roman"/>
              </a:rPr>
              <a:t>Acoustic decibel sensors paired with optical motion estimation detect crowd panics, crushes, and localized brawls, unlocking turnstiles and playing directional PA alerts.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700"/>
              </a:spcAft>
            </a:pPr>
            <a:r>
              <a:rPr sz="1250" b="1">
                <a:solidFill>
                  <a:srgbClr val="23272D"/>
                </a:solidFill>
                <a:latin typeface="Times New Roman"/>
              </a:rPr>
              <a:t>4. Server Data Centers &amp; Electrical Control Rooms: </a:t>
            </a:r>
            <a:r>
              <a:rPr sz="1250">
                <a:solidFill>
                  <a:srgbClr val="23272D"/>
                </a:solidFill>
                <a:latin typeface="Times New Roman"/>
              </a:rPr>
              <a:t>Early detection of smoldering insulation wire heat anomalies and smoke before open flames ignite, cutting electrical relays and notifying maintenance teams in sub-seconds.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23272D"/>
                </a:solidFill>
                <a:latin typeface="Times New Roman"/>
              </a:rPr>
              <a:t>5. Scalable Market Impact: </a:t>
            </a:r>
            <a:r>
              <a:rPr sz="1250">
                <a:solidFill>
                  <a:srgbClr val="23272D"/>
                </a:solidFill>
                <a:latin typeface="Times New Roman"/>
              </a:rPr>
              <a:t>Modular plug-and-play architecture enables any institution to deploy advanced edge safety across 50+ zones at less than 10% of traditional commercial retrofitting budgets.</a:t>
            </a:r>
          </a:p>
        </p:txBody>
      </p:sp>
    </p:spTree>
    <p:extLst>
      <p:ext uri="{BB962C8B-B14F-4D97-AF65-F5344CB8AC3E}">
        <p14:creationId xmlns:p14="http://schemas.microsoft.com/office/powerpoint/2010/main" val="4129370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>
                <a:solidFill>
                  <a:srgbClr val="1B365D"/>
                </a:solidFill>
                <a:latin typeface="Times New Roman"/>
              </a:defRPr>
            </a:pPr>
            <a:r>
              <a:t>Budget Justification: ₹30,000 INR Hardware Ask (50% Advance)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49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007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Milestone Focus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Itemized Hardware Deliverables &amp; Indian Market Specs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Cost (INR)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50% ADVANCE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M1: Compute &amp; Nodes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3x ESP32-S3 Dual-Core N16R8 MCUs + 2x NodeMCU ESP8266 + 2x ESP32-CAM AI Vision Modules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₹4,650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50% ADVANCE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M1: Multi-Sensor Pack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3x MQ-2 (Gas/Smoke), 2x MQ-7 (CO), 3x DHT22 (Temp), 3x Acoustic Mics, 4x PIR, 3x Ultrasonic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₹3,920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50% ADVANCE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M1-M2: Bench &amp; Power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12V 5A DC PSU, 3x 5V Adapters, 24MHz Logic Analyzer + Multimeter, 4x 18650 Cells, 2x BMS, Buck Regulators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₹6,430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B365D"/>
                          </a:solidFill>
                          <a:latin typeface="Times New Roman"/>
                        </a:defRPr>
                      </a:pPr>
                      <a:r>
                        <a:t>ADVANCE TOTAL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B365D"/>
                          </a:solidFill>
                          <a:latin typeface="Times New Roman"/>
                        </a:defRPr>
                      </a:pPr>
                      <a:r>
                        <a:t>Subtotal: Phase 1 (M1 &amp; M2)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B365D"/>
                          </a:solidFill>
                          <a:latin typeface="Times New Roman"/>
                        </a:defRPr>
                      </a:pPr>
                      <a:r>
                        <a:t>Core Microcontrollers, Multi-Hazard Sensors, Testbench Instrumentation &amp; Power Management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1B365D"/>
                          </a:solidFill>
                          <a:latin typeface="Times New Roman"/>
                        </a:defRPr>
                      </a:pPr>
                      <a:r>
                        <a:t>₹15,000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TRANCHE 2-3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M3-M4: PCB &amp; Actuators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10x Custom 2-Layer FR4 PCBs + Stencil + 2x Relays + 12V Solenoid Valve + 12V Lock + 2x 110dB Sirens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₹8,050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TRANCHE 3-5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M4-M6: Mesh &amp; Enclosures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2x NRF24L01+ RF Modules, 4x 5dBi Antennas, 8-Port Switch, 4x IP65 Enclosures + Sealed Calibration Rig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₹6,950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45A32"/>
                          </a:solidFill>
                          <a:latin typeface="Times New Roman"/>
                        </a:defRPr>
                      </a:pPr>
                      <a:r>
                        <a:t>GRAND TOTAL</a:t>
                      </a:r>
                    </a:p>
                  </a:txBody>
                  <a:tcPr>
                    <a:solidFill>
                      <a:srgbClr val="D4EFD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45A32"/>
                          </a:solidFill>
                          <a:latin typeface="Times New Roman"/>
                        </a:defRPr>
                      </a:pPr>
                      <a:r>
                        <a:t>Total 1-Year Project Budget</a:t>
                      </a:r>
                    </a:p>
                  </a:txBody>
                  <a:tcPr>
                    <a:solidFill>
                      <a:srgbClr val="D4EFD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45A32"/>
                          </a:solidFill>
                          <a:latin typeface="Times New Roman"/>
                        </a:defRPr>
                      </a:pPr>
                      <a:r>
                        <a:t>100% Dedicated to Tangible Embedded IoT Hardware, Sensors, PCBs &amp; Actuation Components</a:t>
                      </a:r>
                    </a:p>
                  </a:txBody>
                  <a:tcPr>
                    <a:solidFill>
                      <a:srgbClr val="D4EFD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145A32"/>
                          </a:solidFill>
                          <a:latin typeface="Times New Roman"/>
                        </a:defRPr>
                      </a:pPr>
                      <a:r>
                        <a:t>₹30,000</a:t>
                      </a:r>
                    </a:p>
                  </a:txBody>
                  <a:tcPr>
                    <a:solidFill>
                      <a:srgbClr val="D4EF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84178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>
                <a:solidFill>
                  <a:srgbClr val="1B365D"/>
                </a:solidFill>
                <a:latin typeface="Times New Roman"/>
              </a:defRPr>
            </a:pPr>
            <a:r>
              <a:t>Time Line: 1-Year Execution Road-map (6 Milestones / 1,000 Hours)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Milestone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Timeline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Core Engineering Deliverables &amp; Work Description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Effort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Funding Tranche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B365D"/>
                          </a:solidFill>
                          <a:latin typeface="Times New Roman"/>
                        </a:defRPr>
                      </a:pPr>
                      <a:r>
                        <a:t>Milestone 1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Months 1 – 2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Procure core MCUs, primary sensors, and power test bench. Establish breadboard testbed and verify FreeRTOS toolchain.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160 Hours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50% Advance (₹15,000)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B365D"/>
                          </a:solidFill>
                          <a:latin typeface="Times New Roman"/>
                        </a:defRPr>
                      </a:pPr>
                      <a:r>
                        <a:t>Milestone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Months 3 –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Multi-sensor analog calibration, digital FIR noise filtering, logarithmic PPM curve regression, and 18650 Li-ion BMS power testing.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180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Advance Phase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B365D"/>
                          </a:solidFill>
                          <a:latin typeface="Times New Roman"/>
                        </a:defRPr>
                      </a:pPr>
                      <a:r>
                        <a:t>Milestone 3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Months 5 – 6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Design 2-layer FR4 PCB in KiCad. Fabricate prototype batch, assemble SMT/DIP headers, and integrate 12V solenoid gas valve &amp; sirens.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170 Hours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Tranche 2 (₹5,560)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B365D"/>
                          </a:solidFill>
                          <a:latin typeface="Times New Roman"/>
                        </a:defRPr>
                      </a:pPr>
                      <a:r>
                        <a:t>Milestone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Months 7 –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Interface ESP32-CAM nodes with local MQTT broker. Implement Dempster-Shafer evidential fusion logic and NRF24L01+ RF fallback mesh.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190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Tranche 3 (₹5,020)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B365D"/>
                          </a:solidFill>
                          <a:latin typeface="Times New Roman"/>
                        </a:defRPr>
                      </a:pPr>
                      <a:r>
                        <a:t>Milestone 5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Months 9 – 10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Assemble nodes in IP65 weatherproof ABS industrial enclosures. Execute controlled smoke/gas stress tests in sealed calibration chamber.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160 Hours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Tranche 4 (₹2,450)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B365D"/>
                          </a:solidFill>
                          <a:latin typeface="Times New Roman"/>
                        </a:defRPr>
                      </a:pPr>
                      <a:r>
                        <a:t>Milestone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Months 11 – 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Deploy 4 distributed edge nodes across campus facilities. Validate sub-250ms actuation SLA, test air-gapped mesh autonomy, and compile docket.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140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Tranche 5 (₹1,970)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40415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ctr">
              <a:defRPr sz="3600" b="1">
                <a:solidFill>
                  <a:srgbClr val="1B365D"/>
                </a:solidFill>
                <a:latin typeface="Times New Roman"/>
              </a:defRPr>
            </a:pPr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240" y="3506379"/>
            <a:ext cx="10515600" cy="595358"/>
          </a:xfrm>
        </p:spPr>
        <p:txBody>
          <a:bodyPr>
            <a:noAutofit/>
          </a:bodyPr>
          <a:lstStyle/>
          <a:p>
            <a:pPr marL="0" indent="0" algn="ctr">
              <a:spcAft>
                <a:spcPts val="1200"/>
              </a:spcAft>
              <a:buNone/>
              <a:defRPr sz="1600" b="1">
                <a:solidFill>
                  <a:srgbClr val="1F6EA5"/>
                </a:solidFill>
                <a:latin typeface="Times New Roman"/>
              </a:defRPr>
            </a:pPr>
            <a:r>
              <a:t>VIGINT: Making Campus Infrastructure Autonomously Safe &amp; Resilient</a:t>
            </a:r>
            <a:endParaRPr lang="en-IN" sz="8800" dirty="0"/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23272D"/>
                </a:solidFill>
                <a:latin typeface="Times New Roman"/>
              </a:rPr>
              <a:t>• Core Value: </a:t>
            </a:r>
            <a:r>
              <a:rPr sz="1300">
                <a:solidFill>
                  <a:srgbClr val="23272D"/>
                </a:solidFill>
                <a:latin typeface="Times New Roman"/>
              </a:rPr>
              <a:t>Sub-250ms incident detection, zero false alarms (&lt;1.8%), and instant physical mitigation at &lt;1/20th commercial cost.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23272D"/>
                </a:solidFill>
                <a:latin typeface="Times New Roman"/>
              </a:rPr>
              <a:t>• Feasibility: </a:t>
            </a:r>
            <a:r>
              <a:rPr sz="1300">
                <a:solidFill>
                  <a:srgbClr val="23272D"/>
                </a:solidFill>
                <a:latin typeface="Times New Roman"/>
              </a:rPr>
              <a:t>100% executable within 1 year using standard Indian electronics components with structured 6-milestone delivery.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23272D"/>
                </a:solidFill>
                <a:latin typeface="Times New Roman"/>
              </a:rPr>
              <a:t>• Project Lead: </a:t>
            </a:r>
            <a:r>
              <a:rPr sz="1300">
                <a:solidFill>
                  <a:srgbClr val="23272D"/>
                </a:solidFill>
                <a:latin typeface="Times New Roman"/>
              </a:rPr>
              <a:t>Hitansh Parikh (Lead AI &amp; Embedded Systems Architect) | Email: hitansh.parikh@domain.edu.in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1200"/>
              </a:spcAft>
            </a:pPr>
            <a:r>
              <a:rPr sz="1300" b="1">
                <a:solidFill>
                  <a:srgbClr val="23272D"/>
                </a:solidFill>
                <a:latin typeface="Times New Roman"/>
              </a:rPr>
              <a:t>• Faculty Mentor: </a:t>
            </a:r>
            <a:r>
              <a:rPr sz="1300">
                <a:solidFill>
                  <a:srgbClr val="23272D"/>
                </a:solidFill>
                <a:latin typeface="Times New Roman"/>
              </a:rPr>
              <a:t>Dr. S. K. Sharma (Professor / Head of Department) | Department of Computer Science &amp; Engineering</a:t>
            </a:r>
          </a:p>
          <a:p>
            <a:pPr algn="ctr">
              <a:defRPr sz="1400" b="1">
                <a:solidFill>
                  <a:srgbClr val="1B365D"/>
                </a:solidFill>
                <a:latin typeface="Times New Roman"/>
              </a:defRPr>
            </a:pPr>
            <a:r>
              <a:t>Open for Questions &amp; Technical Discussion</a:t>
            </a:r>
          </a:p>
        </p:txBody>
      </p:sp>
    </p:spTree>
    <p:extLst>
      <p:ext uri="{BB962C8B-B14F-4D97-AF65-F5344CB8AC3E}">
        <p14:creationId xmlns:p14="http://schemas.microsoft.com/office/powerpoint/2010/main" val="952748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1838</Words>
  <Application>Microsoft Office PowerPoint</Application>
  <PresentationFormat>Widescreen</PresentationFormat>
  <Paragraphs>159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VIGINT Autonomous Multi-Sensor IoT Mesh &amp; Edge Embedded System for Real-Time Campus Hazard Detection &amp; Physical Countermeasures</vt:lpstr>
      <vt:lpstr>Outline of Presentation</vt:lpstr>
      <vt:lpstr>Motivation: Why Conventional Safety Systems Fail</vt:lpstr>
      <vt:lpstr>Introduction (1): Problem Statement &amp; Market Gaps</vt:lpstr>
      <vt:lpstr>Introduction (2): Proposed VIGINT Multi-Sensor Solution</vt:lpstr>
      <vt:lpstr>Comparison of Uniqueness: Why VIGINT is Superior</vt:lpstr>
      <vt:lpstr>Application: Real-World Deployments &amp; High-Impact Verticals</vt:lpstr>
      <vt:lpstr>Budget Justification: ₹30,000 INR Hardware Ask (50% Advance)</vt:lpstr>
      <vt:lpstr>Time Line: 1-Year Execution Road-map (6 Milestones / 1,000 Hours)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CHARUSAT</dc:creator>
  <cp:lastModifiedBy>DC</cp:lastModifiedBy>
  <cp:revision>1</cp:revision>
  <dcterms:created xsi:type="dcterms:W3CDTF">2023-07-17T08:07:31Z</dcterms:created>
  <dcterms:modified xsi:type="dcterms:W3CDTF">2026-09-18T05:41:16Z</dcterms:modified>
</cp:coreProperties>
</file>